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TITLE_SLIDE-image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-image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LOSING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4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905" y="548640"/>
            <a:ext cx="59436" cy="42062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" name="Shape 1"/>
          <p:cNvSpPr/>
          <p:nvPr/>
        </p:nvSpPr>
        <p:spPr>
          <a:xfrm>
            <a:off x="609905" y="6647688"/>
            <a:ext cx="10971886" cy="0"/>
          </a:xfrm>
          <a:prstGeom prst="line">
            <a:avLst/>
          </a:prstGeom>
          <a:noFill/>
          <a:ln w="9525">
            <a:solidFill>
              <a:srgbClr val="DBE3EF"/>
            </a:solidFill>
            <a:prstDash val="solid"/>
          </a:ln>
        </p:spPr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786384" y="457200"/>
            <a:ext cx="1078992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9494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D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4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905" y="548640"/>
            <a:ext cx="59436" cy="42062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86384" y="457200"/>
            <a:ext cx="1078992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9494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D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" y="128016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E6F6F4"/>
          </a:solidFill>
          <a:ln w="9525">
            <a:solidFill>
              <a:srgbClr val="9FD8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MINI PROJECT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59536" y="1828800"/>
            <a:ext cx="6309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Stopwatch with Lap Monitoring Using </a:t>
            </a:r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HDL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59536" y="4206240"/>
            <a:ext cx="859536" cy="50292"/>
          </a:xfrm>
          <a:prstGeom prst="roundRect">
            <a:avLst>
              <a:gd name="adj" fmla="val 45455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48006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513424106012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513424106024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513424106305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34440"/>
            <a:ext cx="4206240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0" y="24231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786384" y="4572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 and Proposed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905" y="1325880"/>
            <a:ext cx="5330952" cy="2395728"/>
          </a:xfrm>
          <a:prstGeom prst="roundRect">
            <a:avLst>
              <a:gd name="adj" fmla="val 4962"/>
            </a:avLst>
          </a:prstGeom>
          <a:solidFill>
            <a:srgbClr val="E08A12"/>
          </a:solidFill>
          <a:ln w="12700">
            <a:solidFill>
              <a:srgbClr val="E08A12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09905" y="1371600"/>
            <a:ext cx="5330952" cy="2350008"/>
          </a:xfrm>
          <a:prstGeom prst="roundRect">
            <a:avLst>
              <a:gd name="adj" fmla="val 5058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6793" y="1545336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1623060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32281" y="1527048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56793" y="2039112"/>
            <a:ext cx="483717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events needs precise, glitch-free counting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time display loses intermediate readings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timers lack hardware-level determinism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42609" y="1325880"/>
            <a:ext cx="5330952" cy="2395728"/>
          </a:xfrm>
          <a:prstGeom prst="roundRect">
            <a:avLst>
              <a:gd name="adj" fmla="val 4962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42609" y="1371600"/>
            <a:ext cx="5330952" cy="2350008"/>
          </a:xfrm>
          <a:prstGeom prst="roundRect">
            <a:avLst>
              <a:gd name="adj" fmla="val 5058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89497" y="1545336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1623060"/>
            <a:ext cx="192024" cy="1920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64985" y="1527048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89497" y="2039112"/>
            <a:ext cx="483717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Stopwatch described in Verilog HDL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on a Cyclone II FPGA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STOP / RESET / LAP controls; lap is captured while the main timer keeps running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09905" y="3995928"/>
            <a:ext cx="5330952" cy="2395728"/>
          </a:xfrm>
          <a:prstGeom prst="roundRect">
            <a:avLst>
              <a:gd name="adj" fmla="val 4962"/>
            </a:avLst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9905" y="4041648"/>
            <a:ext cx="5330952" cy="2350008"/>
          </a:xfrm>
          <a:prstGeom prst="roundRect">
            <a:avLst>
              <a:gd name="adj" fmla="val 5058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6793" y="4215384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2F7FA"/>
          </a:solidFill>
          <a:ln w="12700">
            <a:solidFill>
              <a:srgbClr val="E2F7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4293108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32281" y="4197096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Lap Monitoring?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56793" y="4709160"/>
            <a:ext cx="483717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split times of repeated events (laps, experiments)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no pause, so total time stays accurate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demo of FSM, counters, registers and display driving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242609" y="3995928"/>
            <a:ext cx="5330952" cy="2395728"/>
          </a:xfrm>
          <a:prstGeom prst="roundRect">
            <a:avLst>
              <a:gd name="adj" fmla="val 4962"/>
            </a:avLst>
          </a:prstGeom>
          <a:solidFill>
            <a:srgbClr val="0A2350"/>
          </a:solidFill>
          <a:ln w="12700">
            <a:solidFill>
              <a:srgbClr val="0A2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42609" y="4041648"/>
            <a:ext cx="5330952" cy="2350008"/>
          </a:xfrm>
          <a:prstGeom prst="roundRect">
            <a:avLst>
              <a:gd name="adj" fmla="val 5058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89497" y="4215384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5EAF5"/>
          </a:solidFill>
          <a:ln w="12700">
            <a:solidFill>
              <a:srgbClr val="E5EAF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4293108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64985" y="4197096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Expected Outcome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489497" y="4709160"/>
            <a:ext cx="483717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verify the stopwatch in ModelSim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and download it with Quartus II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stopwatch operation with LED status; numerical display depends on compatible display hardware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9494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D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786384" y="4572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905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BE3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48649" y="1261872"/>
            <a:ext cx="676656" cy="274320"/>
          </a:xfrm>
          <a:prstGeom prst="roundRect">
            <a:avLst>
              <a:gd name="adj" fmla="val 20000"/>
            </a:avLst>
          </a:prstGeom>
          <a:solidFill>
            <a:srgbClr val="1F6FEB"/>
          </a:solidFill>
          <a:ln>
            <a:solidFill>
              <a:srgbClr val="1F6FEB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86977" y="1536192"/>
            <a:ext cx="0" cy="155448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717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0A2350"/>
          </a:solidFill>
          <a:ln w="9525">
            <a:solidFill>
              <a:srgbClr val="0A235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44717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79528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BE3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079528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14340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BE3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14340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49152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BE3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49152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87896" y="1261872"/>
            <a:ext cx="676656" cy="274320"/>
          </a:xfrm>
          <a:prstGeom prst="roundRect">
            <a:avLst>
              <a:gd name="adj" fmla="val 20000"/>
            </a:avLst>
          </a:prstGeom>
          <a:solidFill>
            <a:srgbClr val="E08A12"/>
          </a:solidFill>
          <a:ln>
            <a:solidFill>
              <a:srgbClr val="E08A12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26224" y="1536192"/>
            <a:ext cx="0" cy="155448"/>
          </a:xfrm>
          <a:prstGeom prst="line">
            <a:avLst/>
          </a:prstGeom>
          <a:noFill/>
          <a:ln w="19050">
            <a:solidFill>
              <a:srgbClr val="E08A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3964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0A2350"/>
          </a:solidFill>
          <a:ln w="9525">
            <a:solidFill>
              <a:srgbClr val="0A235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283964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18776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BE3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18776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3588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BE3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753588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88400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BE3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88400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7143" y="1261872"/>
            <a:ext cx="676656" cy="274320"/>
          </a:xfrm>
          <a:prstGeom prst="roundRect">
            <a:avLst>
              <a:gd name="adj" fmla="val 20000"/>
            </a:avLst>
          </a:prstGeom>
          <a:solidFill>
            <a:srgbClr val="D0412F"/>
          </a:solidFill>
          <a:ln>
            <a:solidFill>
              <a:srgbClr val="D0412F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65471" y="1536192"/>
            <a:ext cx="0" cy="155448"/>
          </a:xfrm>
          <a:prstGeom prst="line">
            <a:avLst/>
          </a:prstGeom>
          <a:noFill/>
          <a:ln w="19050">
            <a:solidFill>
              <a:srgbClr val="D041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211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0A2350"/>
          </a:solidFill>
          <a:ln w="9525">
            <a:solidFill>
              <a:srgbClr val="0A235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223211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58023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BE3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958023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96767" y="1261872"/>
            <a:ext cx="676656" cy="274320"/>
          </a:xfrm>
          <a:prstGeom prst="roundRect">
            <a:avLst>
              <a:gd name="adj" fmla="val 20000"/>
            </a:avLst>
          </a:prstGeom>
          <a:solidFill>
            <a:srgbClr val="E08A12"/>
          </a:solidFill>
          <a:ln>
            <a:solidFill>
              <a:srgbClr val="E08A12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35095" y="1536192"/>
            <a:ext cx="0" cy="155448"/>
          </a:xfrm>
          <a:prstGeom prst="line">
            <a:avLst/>
          </a:prstGeom>
          <a:noFill/>
          <a:ln w="19050">
            <a:solidFill>
              <a:srgbClr val="E08A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92835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0A2350"/>
          </a:solidFill>
          <a:ln w="9525">
            <a:solidFill>
              <a:srgbClr val="0A235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692835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427647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BE3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427647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162459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BE3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162459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897271" y="1691640"/>
            <a:ext cx="68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BE3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0897271" y="2286000"/>
            <a:ext cx="68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09905" y="257860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timer_out[2:0] per 40 ns step (ns) from the ModelSim run; dark cells are where a control pulse starts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3017520"/>
          <a:ext cx="10971886" cy="914400"/>
        </p:xfrm>
        <a:graphic>
          <a:graphicData uri="http://schemas.openxmlformats.org/drawingml/2006/table">
            <a:tbl>
              <a:tblPr/>
              <a:tblGrid>
                <a:gridCol w="1645783"/>
                <a:gridCol w="3291566"/>
                <a:gridCol w="603453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 at 40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timer_out counts up one step per 40 ns: 001 to 111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pulses at 200 ns and 440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is not interrupted; timer_out keeps updating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 at 360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timer_out reads 000 at 360 ns and updates again from 400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low in this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asserted in this capture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609905" y="5257800"/>
            <a:ext cx="8778240" cy="42062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09905" y="5257800"/>
            <a:ext cx="41148" cy="42062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74497" y="5257800"/>
            <a:ext cx="8549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observed in ModelSim simulation of the project design (clk, start, stop, reset, lap, timer_out[2:0]).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9494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D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786384" y="4572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States and Output Indication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7530" y="1567815"/>
            <a:ext cx="1905000" cy="1047750"/>
          </a:xfrm>
          <a:prstGeom prst="roundRect">
            <a:avLst>
              <a:gd name="adj" fmla="val 50000"/>
            </a:avLst>
          </a:prstGeom>
          <a:solidFill>
            <a:srgbClr val="0A2350"/>
          </a:solidFill>
          <a:ln w="12700">
            <a:solidFill>
              <a:srgbClr val="0A2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24230" y="2025015"/>
            <a:ext cx="133350" cy="133350"/>
          </a:xfrm>
          <a:prstGeom prst="ellipse">
            <a:avLst/>
          </a:prstGeom>
          <a:solidFill>
            <a:srgbClr val="9AA9C2"/>
          </a:solidFill>
          <a:ln w="12700">
            <a:solidFill>
              <a:srgbClr val="9AA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8530" y="1567815"/>
            <a:ext cx="1428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9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= 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562655" y="1567815"/>
            <a:ext cx="1905000" cy="1047750"/>
          </a:xfrm>
          <a:prstGeom prst="roundRect">
            <a:avLst>
              <a:gd name="adj" fmla="val 50000"/>
            </a:avLst>
          </a:prstGeom>
          <a:solidFill>
            <a:srgbClr val="0A2350"/>
          </a:solidFill>
          <a:ln w="12700">
            <a:solidFill>
              <a:srgbClr val="0A2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29355" y="2025015"/>
            <a:ext cx="133350" cy="13335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43655" y="1567815"/>
            <a:ext cx="1428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9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67780" y="1567815"/>
            <a:ext cx="1905000" cy="1047750"/>
          </a:xfrm>
          <a:prstGeom prst="roundRect">
            <a:avLst>
              <a:gd name="adj" fmla="val 50000"/>
            </a:avLst>
          </a:prstGeom>
          <a:solidFill>
            <a:srgbClr val="0A2350"/>
          </a:solidFill>
          <a:ln w="12700">
            <a:solidFill>
              <a:srgbClr val="0A2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34480" y="2025015"/>
            <a:ext cx="133350" cy="133350"/>
          </a:xfrm>
          <a:prstGeom prst="ellipse">
            <a:avLst/>
          </a:prstGeom>
          <a:solidFill>
            <a:srgbClr val="E08A12"/>
          </a:solidFill>
          <a:ln w="12700">
            <a:solidFill>
              <a:srgbClr val="E08A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48780" y="1567815"/>
            <a:ext cx="1428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9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91105" y="1901190"/>
            <a:ext cx="93345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96230" y="1901190"/>
            <a:ext cx="93345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5496230" y="2301240"/>
            <a:ext cx="93345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600630" y="159639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505755" y="159639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05755" y="2377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32520" y="1417320"/>
            <a:ext cx="2843784" cy="1417320"/>
          </a:xfrm>
          <a:prstGeom prst="roundRect">
            <a:avLst>
              <a:gd name="adj" fmla="val 8387"/>
            </a:avLst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32520" y="1463040"/>
            <a:ext cx="2843784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33688" y="1618488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933688" y="1618488"/>
            <a:ext cx="24414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returns any state to IDLE.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in RUN copies the count into the lap register; state stays RUN.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3429000"/>
          <a:ext cx="10971886" cy="914400"/>
        </p:xfrm>
        <a:graphic>
          <a:graphicData uri="http://schemas.openxmlformats.org/drawingml/2006/table">
            <a:tbl>
              <a:tblPr/>
              <a:tblGrid>
                <a:gridCol w="2523534"/>
                <a:gridCol w="4827630"/>
                <a:gridCol w="362072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2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LED_RUN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Stopwatch counting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2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LED_STOP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Stopwatch paused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2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LED_LAP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 time captured/shown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 flag 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9494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D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786384" y="4572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Using ModelSim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905" y="1188720"/>
            <a:ext cx="10971886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98" y="1243584"/>
            <a:ext cx="10858500" cy="35240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905" y="5010912"/>
            <a:ext cx="3474415" cy="1261872"/>
          </a:xfrm>
          <a:prstGeom prst="roundRect">
            <a:avLst>
              <a:gd name="adj" fmla="val 942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9905" y="5056632"/>
            <a:ext cx="3474415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1073" y="5212080"/>
            <a:ext cx="3072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1: Start and count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1073" y="5577840"/>
            <a:ext cx="3072079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40 ns; timer_out steps 001 to 110 by 240 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8640" y="5010912"/>
            <a:ext cx="3474415" cy="1261872"/>
          </a:xfrm>
          <a:prstGeom prst="roundRect">
            <a:avLst>
              <a:gd name="adj" fmla="val 9420"/>
            </a:avLst>
          </a:prstGeom>
          <a:solidFill>
            <a:srgbClr val="E08A12"/>
          </a:solidFill>
          <a:ln w="12700">
            <a:solidFill>
              <a:srgbClr val="E08A12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58640" y="5056632"/>
            <a:ext cx="3474415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9808" y="5212080"/>
            <a:ext cx="3072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2: Stop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59808" y="5577840"/>
            <a:ext cx="3072079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360 ns; timer_out reads 000, updates again from 400 ns.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07375" y="5010912"/>
            <a:ext cx="3474415" cy="1261872"/>
          </a:xfrm>
          <a:prstGeom prst="roundRect">
            <a:avLst>
              <a:gd name="adj" fmla="val 9420"/>
            </a:avLst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07375" y="5056632"/>
            <a:ext cx="3474415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08543" y="5212080"/>
            <a:ext cx="3072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3: Lap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308543" y="5577840"/>
            <a:ext cx="3072079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at 200 and 440 ns; timer_out keeps updating. reset stays 0 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9494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D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786384" y="4572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448" y="1470660"/>
            <a:ext cx="1857375" cy="1095375"/>
          </a:xfrm>
          <a:prstGeom prst="roundRect">
            <a:avLst>
              <a:gd name="adj" fmla="val 8348"/>
            </a:avLst>
          </a:prstGeom>
          <a:solidFill>
            <a:srgbClr val="1F6FEB"/>
          </a:solidFill>
          <a:ln>
            <a:solidFill>
              <a:srgbClr val="1F6FEB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LAP/RESET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038323" y="1470660"/>
            <a:ext cx="2000250" cy="1095375"/>
          </a:xfrm>
          <a:prstGeom prst="roundRect">
            <a:avLst>
              <a:gd name="adj" fmla="val 8348"/>
            </a:avLst>
          </a:prstGeom>
          <a:solidFill>
            <a:srgbClr val="0A2350"/>
          </a:solidFill>
          <a:ln>
            <a:solidFill>
              <a:srgbClr val="0A2350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FSM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448" y="3566160"/>
            <a:ext cx="1857375" cy="904875"/>
          </a:xfrm>
          <a:prstGeom prst="roundRect">
            <a:avLst>
              <a:gd name="adj" fmla="val 10105"/>
            </a:avLst>
          </a:prstGeom>
          <a:solidFill>
            <a:srgbClr val="1F6FEB"/>
          </a:solidFill>
          <a:ln>
            <a:solidFill>
              <a:srgbClr val="1F6FEB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MHz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38323" y="3566160"/>
            <a:ext cx="2000250" cy="904875"/>
          </a:xfrm>
          <a:prstGeom prst="roundRect">
            <a:avLst>
              <a:gd name="adj" fmla="val 10105"/>
            </a:avLst>
          </a:prstGeom>
          <a:solidFill>
            <a:srgbClr val="0A2350"/>
          </a:solidFill>
          <a:ln>
            <a:solidFill>
              <a:srgbClr val="0A2350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divider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Hz / 100 Hz tick)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10073" y="2518410"/>
            <a:ext cx="2000250" cy="1190625"/>
          </a:xfrm>
          <a:prstGeom prst="roundRect">
            <a:avLst>
              <a:gd name="adj" fmla="val 7680"/>
            </a:avLst>
          </a:prstGeom>
          <a:solidFill>
            <a:srgbClr val="0A2350"/>
          </a:solidFill>
          <a:ln>
            <a:solidFill>
              <a:srgbClr val="0A2350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Stopwatch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(min:sec:centi)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10073" y="4471035"/>
            <a:ext cx="2000250" cy="952500"/>
          </a:xfrm>
          <a:prstGeom prst="roundRect">
            <a:avLst>
              <a:gd name="adj" fmla="val 9600"/>
            </a:avLst>
          </a:prstGeom>
          <a:solidFill>
            <a:srgbClr val="0A2350"/>
          </a:solidFill>
          <a:ln>
            <a:solidFill>
              <a:srgbClr val="0A2350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register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81823" y="1470660"/>
            <a:ext cx="1809750" cy="666750"/>
          </a:xfrm>
          <a:prstGeom prst="roundRect">
            <a:avLst>
              <a:gd name="adj" fmla="val 13714"/>
            </a:avLst>
          </a:prstGeom>
          <a:solidFill>
            <a:srgbClr val="1F6FEB"/>
          </a:solidFill>
          <a:ln>
            <a:solidFill>
              <a:srgbClr val="1F6FEB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LEDs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81823" y="2518410"/>
            <a:ext cx="1809750" cy="1190625"/>
          </a:xfrm>
          <a:prstGeom prst="roundRect">
            <a:avLst>
              <a:gd name="adj" fmla="val 7680"/>
            </a:avLst>
          </a:prstGeom>
          <a:solidFill>
            <a:srgbClr val="0A2350"/>
          </a:solidFill>
          <a:ln>
            <a:solidFill>
              <a:srgbClr val="0A2350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driver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(7-seg decode)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91623" y="2518410"/>
            <a:ext cx="1190625" cy="1190625"/>
          </a:xfrm>
          <a:prstGeom prst="roundRect">
            <a:avLst>
              <a:gd name="adj" fmla="val 7680"/>
            </a:avLst>
          </a:prstGeom>
          <a:solidFill>
            <a:srgbClr val="1F6FEB"/>
          </a:solidFill>
          <a:ln>
            <a:solidFill>
              <a:srgbClr val="1F6FEB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85873" y="2013585"/>
            <a:ext cx="51435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85873" y="4013835"/>
            <a:ext cx="51435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57623" y="1804035"/>
            <a:ext cx="308610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57623" y="2280285"/>
            <a:ext cx="26670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24323" y="2280285"/>
            <a:ext cx="0" cy="57150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4323" y="2851785"/>
            <a:ext cx="24765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57623" y="4013835"/>
            <a:ext cx="26670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324323" y="3423285"/>
            <a:ext cx="0" cy="59055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24323" y="3423285"/>
            <a:ext cx="24765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29373" y="3108960"/>
            <a:ext cx="51435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10623" y="3108960"/>
            <a:ext cx="34290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10198" y="3728085"/>
            <a:ext cx="0" cy="70485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29373" y="4947285"/>
            <a:ext cx="1457325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086698" y="3747135"/>
            <a:ext cx="0" cy="120015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09905" y="58521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start/stop/reset  |  tick enable  |  lap capture  |  count and lap values to display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9494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D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786384" y="4572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Implementation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280160"/>
          <a:ext cx="6675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2468880"/>
              </a:tblGrid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clock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button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button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reset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button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 button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timer_out[0]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timer_out[1]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timer_out[2]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562088" y="1280160"/>
            <a:ext cx="4023360" cy="3337560"/>
          </a:xfrm>
          <a:prstGeom prst="roundRect">
            <a:avLst>
              <a:gd name="adj" fmla="val 3562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562088" y="1325880"/>
            <a:ext cx="4023360" cy="3291840"/>
          </a:xfrm>
          <a:prstGeom prst="roundRect">
            <a:avLst>
              <a:gd name="adj" fmla="val 3611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08976" y="1499616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0" y="1577340"/>
            <a:ext cx="192024" cy="1920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84464" y="148132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flow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808976" y="1993392"/>
            <a:ext cx="352958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code compiled in Quartus II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assigned in Pin Planner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I/O pins used: 5 inputs, 3 outputs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targets the Cyclone II FPGA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09905" y="4919472"/>
            <a:ext cx="10971886" cy="1261872"/>
          </a:xfrm>
          <a:prstGeom prst="roundRect">
            <a:avLst>
              <a:gd name="adj" fmla="val 9420"/>
            </a:avLst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09905" y="4965192"/>
            <a:ext cx="10971886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56793" y="5138928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2F7FA"/>
          </a:solidFill>
          <a:ln w="12700">
            <a:solidFill>
              <a:srgbClr val="E2F7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7" y="5216652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2281" y="5120640"/>
            <a:ext cx="100026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56793" y="5614416"/>
            <a:ext cx="104781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board inputs control start, stop, reset and lap; the verified FPGA clock drives clk; timer_out[2:0] drives three assigned LEDs.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9494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D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786384" y="4572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Quartus II Flow Summary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481328"/>
          <a:ext cx="6675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2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Elements (LEs)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E08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filled from Quartus report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2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E08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filled from Quartus report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2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bits / blocks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E08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filled from Quartus report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2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pins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(5 inputs, 3 outputs)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62088" y="1481328"/>
            <a:ext cx="4023360" cy="2286000"/>
          </a:xfrm>
          <a:prstGeom prst="roundRect">
            <a:avLst>
              <a:gd name="adj" fmla="val 5200"/>
            </a:avLst>
          </a:prstGeom>
          <a:solidFill>
            <a:srgbClr val="0A2350"/>
          </a:solidFill>
          <a:ln w="12700">
            <a:solidFill>
              <a:srgbClr val="0A2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62088" y="1527048"/>
            <a:ext cx="4023360" cy="2240280"/>
          </a:xfrm>
          <a:prstGeom prst="roundRect">
            <a:avLst>
              <a:gd name="adj" fmla="val 5306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08976" y="1700784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5EAF5"/>
          </a:solidFill>
          <a:ln w="12700">
            <a:solidFill>
              <a:srgbClr val="E5EAF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0" y="1778508"/>
            <a:ext cx="192024" cy="1920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84464" y="168249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it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808976" y="2194560"/>
            <a:ext cx="3529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Quartus II: Compilation Report &gt; Flow Summary. Enter the values from your actual compilation.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09905" y="40690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pins used: 8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09905" y="4526280"/>
            <a:ext cx="1291476" cy="630936"/>
          </a:xfrm>
          <a:prstGeom prst="roundRect">
            <a:avLst>
              <a:gd name="adj" fmla="val 14493"/>
            </a:avLst>
          </a:prstGeom>
          <a:solidFill>
            <a:srgbClr val="1F6FEB"/>
          </a:solidFill>
          <a:ln>
            <a:solidFill>
              <a:srgbClr val="1F6FEB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992821" y="4526280"/>
            <a:ext cx="1291476" cy="630936"/>
          </a:xfrm>
          <a:prstGeom prst="roundRect">
            <a:avLst>
              <a:gd name="adj" fmla="val 14493"/>
            </a:avLst>
          </a:prstGeom>
          <a:solidFill>
            <a:srgbClr val="1F6FEB"/>
          </a:solidFill>
          <a:ln>
            <a:solidFill>
              <a:srgbClr val="1F6FEB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75736" y="4526280"/>
            <a:ext cx="1291476" cy="630936"/>
          </a:xfrm>
          <a:prstGeom prst="roundRect">
            <a:avLst>
              <a:gd name="adj" fmla="val 14493"/>
            </a:avLst>
          </a:prstGeom>
          <a:solidFill>
            <a:srgbClr val="1F6FEB"/>
          </a:solidFill>
          <a:ln>
            <a:solidFill>
              <a:srgbClr val="1F6FEB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58652" y="4526280"/>
            <a:ext cx="1291476" cy="630936"/>
          </a:xfrm>
          <a:prstGeom prst="roundRect">
            <a:avLst>
              <a:gd name="adj" fmla="val 14493"/>
            </a:avLst>
          </a:prstGeom>
          <a:solidFill>
            <a:srgbClr val="1F6FEB"/>
          </a:solidFill>
          <a:ln>
            <a:solidFill>
              <a:srgbClr val="1F6FEB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41568" y="4526280"/>
            <a:ext cx="1291476" cy="630936"/>
          </a:xfrm>
          <a:prstGeom prst="roundRect">
            <a:avLst>
              <a:gd name="adj" fmla="val 14493"/>
            </a:avLst>
          </a:prstGeom>
          <a:solidFill>
            <a:srgbClr val="1F6FEB"/>
          </a:solidFill>
          <a:ln>
            <a:solidFill>
              <a:srgbClr val="1F6FEB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524483" y="4526280"/>
            <a:ext cx="1291476" cy="630936"/>
          </a:xfrm>
          <a:prstGeom prst="roundRect">
            <a:avLst>
              <a:gd name="adj" fmla="val 14493"/>
            </a:avLst>
          </a:prstGeom>
          <a:solidFill>
            <a:srgbClr val="0A2350"/>
          </a:solidFill>
          <a:ln>
            <a:solidFill>
              <a:srgbClr val="0A2350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timer_out[0]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907399" y="4526280"/>
            <a:ext cx="1291476" cy="630936"/>
          </a:xfrm>
          <a:prstGeom prst="roundRect">
            <a:avLst>
              <a:gd name="adj" fmla="val 14493"/>
            </a:avLst>
          </a:prstGeom>
          <a:solidFill>
            <a:srgbClr val="0A2350"/>
          </a:solidFill>
          <a:ln>
            <a:solidFill>
              <a:srgbClr val="0A2350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timer_out[1]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290315" y="4526280"/>
            <a:ext cx="1291476" cy="630936"/>
          </a:xfrm>
          <a:prstGeom prst="roundRect">
            <a:avLst>
              <a:gd name="adj" fmla="val 14493"/>
            </a:avLst>
          </a:prstGeom>
          <a:solidFill>
            <a:srgbClr val="0A2350"/>
          </a:solidFill>
          <a:ln>
            <a:solidFill>
              <a:srgbClr val="0A2350"/>
            </a:solidFill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timer_out[2]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09905" y="53766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9361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inputs (clk, buttons)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566160" y="53766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A2350"/>
          </a:solidFill>
          <a:ln w="12700">
            <a:solidFill>
              <a:srgbClr val="0A235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785616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= outputs (LED 0 to LED 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9494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D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786384" y="4572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Analysis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280160"/>
          <a:ext cx="10971886" cy="914400"/>
        </p:xfrm>
        <a:graphic>
          <a:graphicData uri="http://schemas.openxmlformats.org/drawingml/2006/table">
            <a:tbl>
              <a:tblPr/>
              <a:tblGrid>
                <a:gridCol w="2852690"/>
                <a:gridCol w="4059598"/>
                <a:gridCol w="4059598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Tool-reported (Quartus)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/ 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5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frequency (Fmax)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E08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filled from Quartus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clock: 20 ns period (50 MHz)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E08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filled from Quartus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 register-to-register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slack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E08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filled from Quartus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0 ns or more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E08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filled from Quartus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when slack is not negative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09905" y="3886200"/>
            <a:ext cx="5335067" cy="2286000"/>
          </a:xfrm>
          <a:prstGeom prst="roundRect">
            <a:avLst>
              <a:gd name="adj" fmla="val 52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09905" y="3931920"/>
            <a:ext cx="5335067" cy="2240280"/>
          </a:xfrm>
          <a:prstGeom prst="roundRect">
            <a:avLst>
              <a:gd name="adj" fmla="val 5306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6793" y="4105656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4183380"/>
            <a:ext cx="192024" cy="1920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32281" y="4087368"/>
            <a:ext cx="4365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report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56793" y="4599432"/>
            <a:ext cx="4841291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Fmax = 1 / critical path delay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= required time - arrival time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slack means timing is met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46724" y="3886200"/>
            <a:ext cx="5335067" cy="2286000"/>
          </a:xfrm>
          <a:prstGeom prst="roundRect">
            <a:avLst>
              <a:gd name="adj" fmla="val 5200"/>
            </a:avLst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46724" y="3931920"/>
            <a:ext cx="5335067" cy="2240280"/>
          </a:xfrm>
          <a:prstGeom prst="roundRect">
            <a:avLst>
              <a:gd name="adj" fmla="val 5306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93612" y="4105656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2F7FA"/>
          </a:solidFill>
          <a:ln w="12700">
            <a:solidFill>
              <a:srgbClr val="E2F7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336" y="418338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69100" y="4087368"/>
            <a:ext cx="4365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93612" y="4599432"/>
            <a:ext cx="4841291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 ns clock in the ModelSim run is a simulation setting, not a Quartus result. Fmax is compared with it once the Timing Analyzer value is filled 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9494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D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86384" y="4572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1389888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335024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Stopwatch with START, STOP, RESET and LAP designed in Verilog HDL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1993392"/>
            <a:ext cx="256032" cy="2560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05840" y="1938528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ModelSim test cases (count, stop/resume, reset/lap)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5" y="2596896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05840" y="254203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RTL: clock divider, FSM, counter, lap register, display driver</a:t>
            </a:r>
            <a:endParaRPr lang="en-US" sz="16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5" y="3200400"/>
            <a:ext cx="256032" cy="25603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05840" y="3145536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Cyclone II; LEDs indicate states, with numerical display only if compatible hardware is available</a:t>
            </a:r>
            <a:endParaRPr lang="en-US" sz="16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5" y="3803904"/>
            <a:ext cx="256032" cy="25603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05840" y="374904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use and timing must be taken from the actual Quartus II reports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7726680" y="1325880"/>
            <a:ext cx="3849624" cy="2240280"/>
          </a:xfrm>
          <a:prstGeom prst="roundRect">
            <a:avLst>
              <a:gd name="adj" fmla="val 5306"/>
            </a:avLst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  <a:effectLst>
            <a:outerShdw sx="100000" sy="100000" kx="0" ky="0" algn="bl" rotWithShape="0" blurRad="101600" dist="38100" dir="5400000">
              <a:srgbClr val="0A2350">
                <a:alpha val="12000"/>
              </a:srgbClr>
            </a:outerShdw>
          </a:effectLst>
        </p:spPr>
      </p:sp>
      <p:sp>
        <p:nvSpPr>
          <p:cNvPr id="14" name="Shape 7"/>
          <p:cNvSpPr/>
          <p:nvPr/>
        </p:nvSpPr>
        <p:spPr>
          <a:xfrm>
            <a:off x="7726680" y="1371600"/>
            <a:ext cx="3849624" cy="2194560"/>
          </a:xfrm>
          <a:prstGeom prst="roundRect">
            <a:avLst>
              <a:gd name="adj" fmla="val 5417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7973568" y="1545336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2F7FA"/>
          </a:solidFill>
          <a:ln w="12700">
            <a:solidFill>
              <a:srgbClr val="E2F7FA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1292" y="1623060"/>
            <a:ext cx="192024" cy="19202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449056" y="15270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8" name="Text 10"/>
          <p:cNvSpPr txBox="1"/>
          <p:nvPr/>
        </p:nvSpPr>
        <p:spPr>
          <a:xfrm>
            <a:off x="7973568" y="2039112"/>
            <a:ext cx="33558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lap memory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VGA display output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Count-down timer mode</a:t>
            </a:r>
            <a:endParaRPr lang="en-US" sz="1500" dirty="0"/>
          </a:p>
        </p:txBody>
      </p:sp>
      <p:sp>
        <p:nvSpPr>
          <p:cNvPr id="19" name="Shape 11"/>
          <p:cNvSpPr/>
          <p:nvPr/>
        </p:nvSpPr>
        <p:spPr>
          <a:xfrm>
            <a:off x="3246120" y="5650992"/>
            <a:ext cx="1280160" cy="0"/>
          </a:xfrm>
          <a:prstGeom prst="line">
            <a:avLst/>
          </a:prstGeom>
          <a:noFill/>
          <a:ln w="25400">
            <a:solidFill>
              <a:srgbClr val="22B8CF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7662672" y="5650992"/>
            <a:ext cx="1280160" cy="0"/>
          </a:xfrm>
          <a:prstGeom prst="line">
            <a:avLst/>
          </a:prstGeom>
          <a:noFill/>
          <a:ln w="25400">
            <a:solidFill>
              <a:srgbClr val="22B8CF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4572000" y="5193792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A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Stopwatch with Lap Monitoring Using Verilog HDL</dc:title>
  <dc:subject>PptxGenJS Presentation</dc:subject>
  <dc:creator>PptxGenJS</dc:creator>
  <cp:lastModifiedBy>PptxGenJS</cp:lastModifiedBy>
  <cp:revision>1</cp:revision>
  <dcterms:created xsi:type="dcterms:W3CDTF">2026-10-11T07:59:57Z</dcterms:created>
  <dcterms:modified xsi:type="dcterms:W3CDTF">2026-10-11T07:59:57Z</dcterms:modified>
</cp:coreProperties>
</file>